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5"/>
  </p:notesMasterIdLst>
  <p:handoutMasterIdLst>
    <p:handoutMasterId r:id="rId36"/>
  </p:handoutMasterIdLst>
  <p:sldIdLst>
    <p:sldId id="338" r:id="rId5"/>
    <p:sldId id="327" r:id="rId6"/>
    <p:sldId id="315" r:id="rId7"/>
    <p:sldId id="329" r:id="rId8"/>
    <p:sldId id="302" r:id="rId9"/>
    <p:sldId id="347" r:id="rId10"/>
    <p:sldId id="339" r:id="rId11"/>
    <p:sldId id="340" r:id="rId12"/>
    <p:sldId id="344" r:id="rId13"/>
    <p:sldId id="345" r:id="rId14"/>
    <p:sldId id="348" r:id="rId15"/>
    <p:sldId id="346" r:id="rId16"/>
    <p:sldId id="355" r:id="rId17"/>
    <p:sldId id="356" r:id="rId18"/>
    <p:sldId id="350" r:id="rId19"/>
    <p:sldId id="357" r:id="rId20"/>
    <p:sldId id="358" r:id="rId21"/>
    <p:sldId id="351" r:id="rId22"/>
    <p:sldId id="352" r:id="rId23"/>
    <p:sldId id="359" r:id="rId24"/>
    <p:sldId id="353" r:id="rId25"/>
    <p:sldId id="360" r:id="rId26"/>
    <p:sldId id="354" r:id="rId27"/>
    <p:sldId id="361" r:id="rId28"/>
    <p:sldId id="362" r:id="rId29"/>
    <p:sldId id="363" r:id="rId30"/>
    <p:sldId id="341" r:id="rId31"/>
    <p:sldId id="342" r:id="rId32"/>
    <p:sldId id="343" r:id="rId33"/>
    <p:sldId id="30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3" d="100"/>
          <a:sy n="83" d="100"/>
        </p:scale>
        <p:origin x="590"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65744" y="3521160"/>
            <a:ext cx="7010401" cy="861497"/>
          </a:xfrm>
        </p:spPr>
        <p:txBody>
          <a:bodyPr vert="horz" lIns="91440" tIns="45720" rIns="91440" bIns="45720" rtlCol="0" anchor="t">
            <a:normAutofit/>
          </a:bodyPr>
          <a:lstStyle/>
          <a:p>
            <a:r>
              <a:rPr lang="en-US" sz="1800" b="0" dirty="0">
                <a:solidFill>
                  <a:schemeClr val="tx1">
                    <a:lumMod val="95000"/>
                    <a:lumOff val="5000"/>
                  </a:schemeClr>
                </a:solidFill>
                <a:latin typeface="Times New Roman" panose="02020603050405020304" pitchFamily="18" charset="0"/>
                <a:ea typeface="+mj-ea"/>
                <a:cs typeface="Times New Roman" panose="02020603050405020304" pitchFamily="18" charset="0"/>
              </a:rPr>
              <a:t>Student</a:t>
            </a:r>
            <a:r>
              <a:rPr lang="en-US" sz="1800" b="0" dirty="0">
                <a:solidFill>
                  <a:schemeClr val="tx1">
                    <a:lumMod val="95000"/>
                    <a:lumOff val="5000"/>
                  </a:schemeClr>
                </a:solidFill>
                <a:latin typeface="Times New Roman" panose="02020603050405020304" pitchFamily="18" charset="0"/>
                <a:cs typeface="Times New Roman" panose="02020603050405020304" pitchFamily="18" charset="0"/>
              </a:rPr>
              <a:t> Name – Ramya Krishna Akula </a:t>
            </a:r>
            <a:endParaRPr lang="en-IN" sz="1800" b="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800" b="0" dirty="0">
                <a:solidFill>
                  <a:schemeClr val="tx1">
                    <a:lumMod val="95000"/>
                    <a:lumOff val="5000"/>
                  </a:schemeClr>
                </a:solidFill>
                <a:latin typeface="Times New Roman" panose="02020603050405020304" pitchFamily="18" charset="0"/>
                <a:cs typeface="Times New Roman" panose="02020603050405020304" pitchFamily="18" charset="0"/>
              </a:rPr>
              <a:t>College Name- </a:t>
            </a:r>
            <a:r>
              <a:rPr lang="en-US" sz="1800" b="0" dirty="0" err="1">
                <a:solidFill>
                  <a:schemeClr val="tx1">
                    <a:lumMod val="95000"/>
                    <a:lumOff val="5000"/>
                  </a:schemeClr>
                </a:solidFill>
                <a:latin typeface="Times New Roman" panose="02020603050405020304" pitchFamily="18" charset="0"/>
                <a:cs typeface="Times New Roman" panose="02020603050405020304" pitchFamily="18" charset="0"/>
              </a:rPr>
              <a:t>Bhoj</a:t>
            </a:r>
            <a:r>
              <a:rPr lang="en-US" sz="1800" b="0" dirty="0">
                <a:solidFill>
                  <a:schemeClr val="tx1">
                    <a:lumMod val="95000"/>
                    <a:lumOff val="5000"/>
                  </a:schemeClr>
                </a:solidFill>
                <a:latin typeface="Times New Roman" panose="02020603050405020304" pitchFamily="18" charset="0"/>
                <a:cs typeface="Times New Roman" panose="02020603050405020304" pitchFamily="18" charset="0"/>
              </a:rPr>
              <a:t> Reddy Engineering College for Women</a:t>
            </a:r>
            <a:endParaRPr lang="en-IN" sz="1800" b="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97266" y="2681018"/>
            <a:ext cx="9761134" cy="646331"/>
          </a:xfrm>
        </p:spPr>
        <p:txBody>
          <a:bodyPr>
            <a:normAutofit fontScale="90000"/>
          </a:bodyPr>
          <a:lstStyle/>
          <a:p>
            <a:r>
              <a:rPr lang="en-GB" sz="3200" b="1" dirty="0">
                <a:latin typeface="Times New Roman" panose="02020603050405020304" pitchFamily="18" charset="0"/>
                <a:cs typeface="Times New Roman" panose="02020603050405020304" pitchFamily="18" charset="0"/>
              </a:rPr>
              <a:t>Project Title - </a:t>
            </a:r>
            <a:r>
              <a:rPr lang="en-US" sz="3200" b="1" dirty="0">
                <a:latin typeface="Times New Roman" panose="02020603050405020304" pitchFamily="18" charset="0"/>
                <a:cs typeface="Times New Roman" panose="02020603050405020304" pitchFamily="18" charset="0"/>
              </a:rPr>
              <a:t>Seasonal Agriculture Performance Analysis </a:t>
            </a:r>
            <a:endParaRPr lang="en-IN" sz="32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920427" y="4530302"/>
            <a:ext cx="651481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STU625ba2aa3a4d71650172586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pPr>
              <a:lnSpc>
                <a:spcPct val="150000"/>
              </a:lnSpc>
            </a:pPr>
            <a:r>
              <a:rPr lang="en-US" sz="2800" dirty="0">
                <a:solidFill>
                  <a:schemeClr val="tx1"/>
                </a:solidFill>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a:t>
            </a:r>
          </a:p>
          <a:p>
            <a:pPr>
              <a:lnSpc>
                <a:spcPct val="150000"/>
              </a:lnSpc>
            </a:pPr>
            <a:r>
              <a:rPr lang="en-US" sz="2800" dirty="0">
                <a:solidFill>
                  <a:schemeClr val="tx1"/>
                </a:solidFill>
                <a:latin typeface="Times New Roman" panose="02020603050405020304" pitchFamily="18" charset="0"/>
                <a:cs typeface="Times New Roman" panose="02020603050405020304" pitchFamily="18" charset="0"/>
              </a:rPr>
              <a:t> The problem is to analyze the given agricultural dataset and investigate seasonal differences in agricultural performance by identifying meaningful patterns, trends, relationships and variations within the available data.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a:t>
            </a:r>
            <a:r>
              <a:rPr lang="en-US" dirty="0"/>
              <a:t>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a:t>
            </a:r>
            <a:r>
              <a:rPr lang="en-GB" dirty="0"/>
              <a: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A4D2D295-A686-2FC2-1115-EB36F58FB9ED}"/>
              </a:ext>
            </a:extLst>
          </p:cNvPr>
          <p:cNvSpPr>
            <a:spLocks noChangeArrowheads="1"/>
          </p:cNvSpPr>
          <p:nvPr/>
        </p:nvSpPr>
        <p:spPr bwMode="auto">
          <a:xfrm>
            <a:off x="535709" y="2380163"/>
            <a:ext cx="706581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Analyzes 4,000 agricultural records across different seasons.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Compares crops, irrigation methods, states and districts.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key metrics such as yield, production, revenue, cost and profit.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Examines rainfall, soil, temperature and water usage.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Python for data cleaning, analysis and visualization.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key patterns, relationships and data-driven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Farmers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 To understand crop performance, profitability and irrigation efficiency.</a:t>
            </a:r>
          </a:p>
          <a:p>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Agricultural Organizations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 To analyze farming patterns and improve resource planning.</a:t>
            </a:r>
          </a:p>
          <a:p>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Irrigation &amp; Resource Managers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 To understand water usage and efficiency.</a:t>
            </a:r>
          </a:p>
          <a:p>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Agricultural Analysts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 To study seasonal, crop and regional performance.</a:t>
            </a:r>
          </a:p>
          <a:p>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Government &amp; Policy Makers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 To support data-driven agricultural planning and decisions.</a:t>
            </a:r>
          </a:p>
          <a:p>
            <a:pPr algn="just">
              <a:lnSpc>
                <a:spcPct val="150000"/>
              </a:lnSpc>
            </a:pP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
        <p:nvSpPr>
          <p:cNvPr id="3" name="Rectangle 1">
            <a:extLst>
              <a:ext uri="{FF2B5EF4-FFF2-40B4-BE49-F238E27FC236}">
                <a16:creationId xmlns:a16="http://schemas.microsoft.com/office/drawing/2014/main" id="{06CFF921-D1ED-69FD-34FB-A912AF721937}"/>
              </a:ext>
            </a:extLst>
          </p:cNvPr>
          <p:cNvSpPr>
            <a:spLocks noGrp="1" noChangeArrowheads="1"/>
          </p:cNvSpPr>
          <p:nvPr>
            <p:ph type="body" sz="quarter" idx="12"/>
          </p:nvPr>
        </p:nvSpPr>
        <p:spPr bwMode="auto">
          <a:xfrm>
            <a:off x="1778000" y="1973098"/>
            <a:ext cx="6666202"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analysis and processing</a:t>
            </a:r>
          </a:p>
          <a:p>
            <a:pPr marR="0" lvl="0" algn="l" defTabSz="914400" rtl="0" eaLnBrk="0" fontAlgn="base" latinLnBrk="0" hangingPunct="0">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cleaning and manipulation</a:t>
            </a:r>
          </a:p>
          <a:p>
            <a:pPr marR="0" lvl="0" algn="l" defTabSz="914400" rtl="0" eaLnBrk="0" fontAlgn="base" latinLnBrk="0" hangingPunct="0">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Numerical analysis</a:t>
            </a:r>
          </a:p>
          <a:p>
            <a:pPr marR="0" lvl="0" algn="l"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Data visualization</a:t>
            </a:r>
          </a:p>
          <a:p>
            <a:pPr marR="0" lvl="0" algn="l"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Seaborn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Statistical visualization</a:t>
            </a:r>
          </a:p>
          <a:p>
            <a:pPr marR="0" lvl="0" algn="l" defTabSz="914400" rtl="0" eaLnBrk="0" fontAlgn="base" latinLnBrk="0" hangingPunct="0">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Project development and analysis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195-0892-7701-4D84-8D6CDCFE15E0}"/>
              </a:ext>
            </a:extLst>
          </p:cNvPr>
          <p:cNvSpPr>
            <a:spLocks noGrp="1"/>
          </p:cNvSpPr>
          <p:nvPr>
            <p:ph type="title"/>
          </p:nvPr>
        </p:nvSpPr>
        <p:spPr>
          <a:xfrm>
            <a:off x="1046788" y="2586182"/>
            <a:ext cx="8596668" cy="1320800"/>
          </a:xfrm>
        </p:spPr>
        <p:txBody>
          <a:bodyPr>
            <a:normAutofit/>
          </a:bodyPr>
          <a:lstStyle/>
          <a:p>
            <a:r>
              <a:rPr lang="en-IN" sz="6600" dirty="0">
                <a:latin typeface="Times New Roman" panose="02020603050405020304" pitchFamily="18" charset="0"/>
                <a:cs typeface="Times New Roman" panose="02020603050405020304" pitchFamily="18" charset="0"/>
              </a:rPr>
              <a:t>Seasonal Analysis</a:t>
            </a:r>
          </a:p>
        </p:txBody>
      </p:sp>
      <p:sp>
        <p:nvSpPr>
          <p:cNvPr id="3" name="Slide Number Placeholder 2">
            <a:extLst>
              <a:ext uri="{FF2B5EF4-FFF2-40B4-BE49-F238E27FC236}">
                <a16:creationId xmlns:a16="http://schemas.microsoft.com/office/drawing/2014/main" id="{B4398D28-431C-7660-F41C-F84BA6497164}"/>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3446329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8" y="370590"/>
            <a:ext cx="1854806" cy="66607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1071418" y="5454396"/>
            <a:ext cx="7102764" cy="1033014"/>
          </a:xfrm>
        </p:spPr>
        <p:txBody>
          <a:bodyPr vert="horz" lIns="91440" tIns="45720" rIns="91440" bIns="45720" rtlCol="0" anchor="t">
            <a:norm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Kharif was the most profitable season, with an average profit of approximately ₹1.79 lakh, while Zaid recorded an average loss of ₹24,805.</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2B82862-CE5C-C113-B131-4FC7622B3BCB}"/>
              </a:ext>
            </a:extLst>
          </p:cNvPr>
          <p:cNvPicPr>
            <a:picLocks noChangeAspect="1"/>
          </p:cNvPicPr>
          <p:nvPr/>
        </p:nvPicPr>
        <p:blipFill>
          <a:blip r:embed="rId3"/>
          <a:stretch>
            <a:fillRect/>
          </a:stretch>
        </p:blipFill>
        <p:spPr>
          <a:xfrm>
            <a:off x="1071418" y="1152805"/>
            <a:ext cx="7297168" cy="417253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320982" y="315595"/>
            <a:ext cx="1871528" cy="66607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712985" y="5123126"/>
            <a:ext cx="8708106" cy="1734874"/>
          </a:xfrm>
        </p:spPr>
        <p:txBody>
          <a:bodyPr>
            <a:normAutofit/>
          </a:bodyPr>
          <a:lstStyle/>
          <a:p>
            <a:pPr>
              <a:buFont typeface="Wingdings" panose="05000000000000000000" pitchFamily="2" charset="2"/>
              <a:buChar char="è"/>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Kharif has the highest average yield: 5.63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/ha.</a:t>
            </a:r>
          </a:p>
          <a:p>
            <a:pPr>
              <a:buFont typeface="Wingdings" panose="05000000000000000000" pitchFamily="2" charset="2"/>
              <a:buChar char="è"/>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Rabi: 5.04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/ha.</a:t>
            </a:r>
          </a:p>
          <a:p>
            <a:pPr>
              <a:buFont typeface="Wingdings" panose="05000000000000000000" pitchFamily="2" charset="2"/>
              <a:buChar char="è"/>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Zaid has the lowest: 4.64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ha.So</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in this dataset, Kharif shows the highest average crop yield.</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F6B32CB-E5F2-4B01-6841-B2CDC1DA36DE}"/>
              </a:ext>
            </a:extLst>
          </p:cNvPr>
          <p:cNvPicPr>
            <a:picLocks noChangeAspect="1"/>
          </p:cNvPicPr>
          <p:nvPr/>
        </p:nvPicPr>
        <p:blipFill>
          <a:blip r:embed="rId3"/>
          <a:stretch>
            <a:fillRect/>
          </a:stretch>
        </p:blipFill>
        <p:spPr>
          <a:xfrm>
            <a:off x="2192510" y="922100"/>
            <a:ext cx="5072515" cy="420102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956407" cy="645411"/>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5FDAD36-92A2-9330-1CA8-5635D3C024B7}"/>
              </a:ext>
            </a:extLst>
          </p:cNvPr>
          <p:cNvPicPr>
            <a:picLocks noChangeAspect="1"/>
          </p:cNvPicPr>
          <p:nvPr/>
        </p:nvPicPr>
        <p:blipFill>
          <a:blip r:embed="rId3"/>
          <a:stretch>
            <a:fillRect/>
          </a:stretch>
        </p:blipFill>
        <p:spPr>
          <a:xfrm>
            <a:off x="530073" y="1183650"/>
            <a:ext cx="8117063" cy="528827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90"/>
            <a:ext cx="1928697" cy="65344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62581" y="5552287"/>
            <a:ext cx="8133637" cy="830996"/>
          </a:xfrm>
        </p:spPr>
        <p:txBody>
          <a:bodyPr>
            <a:norm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Kharif showed the highest average water efficiency at 5.89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1,000 m3, while Zaid had the lowest at 4.41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1,000 m3.</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BD9ABAC-F4DB-5836-A51C-EDE316CF81A4}"/>
              </a:ext>
            </a:extLst>
          </p:cNvPr>
          <p:cNvPicPr>
            <a:picLocks noChangeAspect="1"/>
          </p:cNvPicPr>
          <p:nvPr/>
        </p:nvPicPr>
        <p:blipFill>
          <a:blip r:embed="rId3"/>
          <a:stretch>
            <a:fillRect/>
          </a:stretch>
        </p:blipFill>
        <p:spPr>
          <a:xfrm>
            <a:off x="1992762" y="1111701"/>
            <a:ext cx="5651426" cy="435070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195-0892-7701-4D84-8D6CDCFE15E0}"/>
              </a:ext>
            </a:extLst>
          </p:cNvPr>
          <p:cNvSpPr>
            <a:spLocks noGrp="1"/>
          </p:cNvSpPr>
          <p:nvPr>
            <p:ph type="title"/>
          </p:nvPr>
        </p:nvSpPr>
        <p:spPr>
          <a:xfrm>
            <a:off x="1046788" y="2586182"/>
            <a:ext cx="8596668" cy="1320800"/>
          </a:xfrm>
        </p:spPr>
        <p:txBody>
          <a:bodyPr>
            <a:normAutofit/>
          </a:bodyPr>
          <a:lstStyle/>
          <a:p>
            <a:r>
              <a:rPr lang="en-IN" sz="6600" dirty="0">
                <a:latin typeface="Times New Roman" panose="02020603050405020304" pitchFamily="18" charset="0"/>
                <a:cs typeface="Times New Roman" panose="02020603050405020304" pitchFamily="18" charset="0"/>
              </a:rPr>
              <a:t>Crop Analysis</a:t>
            </a:r>
            <a:endParaRPr lang="en-IN" sz="115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4398D28-431C-7660-F41C-F84BA6497164}"/>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36069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898624" y="357065"/>
            <a:ext cx="1920457" cy="589993"/>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991890" y="5407896"/>
            <a:ext cx="7597928" cy="1079515"/>
          </a:xfrm>
        </p:spPr>
        <p:txBody>
          <a:bodyPr>
            <a:no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Sugarcane recorded the highest average yield at 46.64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hectare, while Pulses recorded the lowest at 0.92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hectare. Among the remaining crops, Maize had the highest average yield at 2.71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hectare.</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30A9F81-44FD-341E-EB8A-9CDF79D0C128}"/>
              </a:ext>
            </a:extLst>
          </p:cNvPr>
          <p:cNvPicPr>
            <a:picLocks noChangeAspect="1"/>
          </p:cNvPicPr>
          <p:nvPr/>
        </p:nvPicPr>
        <p:blipFill>
          <a:blip r:embed="rId3"/>
          <a:stretch>
            <a:fillRect/>
          </a:stretch>
        </p:blipFill>
        <p:spPr>
          <a:xfrm>
            <a:off x="675957" y="972583"/>
            <a:ext cx="8344225" cy="440978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143125" cy="666079"/>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16400" y="5994400"/>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FA8E00B-C0A8-EC73-6835-523D44EEF33A}"/>
              </a:ext>
            </a:extLst>
          </p:cNvPr>
          <p:cNvPicPr>
            <a:picLocks noChangeAspect="1"/>
          </p:cNvPicPr>
          <p:nvPr/>
        </p:nvPicPr>
        <p:blipFill>
          <a:blip r:embed="rId3"/>
          <a:stretch>
            <a:fillRect/>
          </a:stretch>
        </p:blipFill>
        <p:spPr>
          <a:xfrm>
            <a:off x="675957" y="1117599"/>
            <a:ext cx="8412725" cy="5354321"/>
          </a:xfrm>
          <a:prstGeom prst="rect">
            <a:avLst/>
          </a:prstGeom>
        </p:spPr>
      </p:pic>
    </p:spTree>
    <p:extLst>
      <p:ext uri="{BB962C8B-B14F-4D97-AF65-F5344CB8AC3E}">
        <p14:creationId xmlns:p14="http://schemas.microsoft.com/office/powerpoint/2010/main" val="1348175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90"/>
            <a:ext cx="2058007" cy="66607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1148909" y="5994400"/>
            <a:ext cx="7348545" cy="670560"/>
          </a:xfrm>
        </p:spPr>
        <p:txBody>
          <a:bodyPr>
            <a:norm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Kharif had the highest yield for most crops, while Zaid had the lowest. Sugarcane had the highest yield, and Pulses had the lowest across the seasons.</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14F660E-E53D-7A29-6A3A-A42D8211F8C3}"/>
              </a:ext>
            </a:extLst>
          </p:cNvPr>
          <p:cNvPicPr>
            <a:picLocks noChangeAspect="1"/>
          </p:cNvPicPr>
          <p:nvPr/>
        </p:nvPicPr>
        <p:blipFill>
          <a:blip r:embed="rId3"/>
          <a:stretch>
            <a:fillRect/>
          </a:stretch>
        </p:blipFill>
        <p:spPr>
          <a:xfrm>
            <a:off x="899884" y="1346731"/>
            <a:ext cx="8031321" cy="4235898"/>
          </a:xfrm>
          <a:prstGeom prst="rect">
            <a:avLst/>
          </a:prstGeom>
        </p:spPr>
      </p:pic>
    </p:spTree>
    <p:extLst>
      <p:ext uri="{BB962C8B-B14F-4D97-AF65-F5344CB8AC3E}">
        <p14:creationId xmlns:p14="http://schemas.microsoft.com/office/powerpoint/2010/main" val="273505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195-0892-7701-4D84-8D6CDCFE15E0}"/>
              </a:ext>
            </a:extLst>
          </p:cNvPr>
          <p:cNvSpPr>
            <a:spLocks noGrp="1"/>
          </p:cNvSpPr>
          <p:nvPr>
            <p:ph type="title"/>
          </p:nvPr>
        </p:nvSpPr>
        <p:spPr>
          <a:xfrm>
            <a:off x="1046788" y="2586182"/>
            <a:ext cx="8596668" cy="1320800"/>
          </a:xfrm>
        </p:spPr>
        <p:txBody>
          <a:bodyPr>
            <a:normAutofit/>
          </a:bodyPr>
          <a:lstStyle/>
          <a:p>
            <a:r>
              <a:rPr lang="en-IN" sz="6600" dirty="0">
                <a:latin typeface="Times New Roman" panose="02020603050405020304" pitchFamily="18" charset="0"/>
                <a:cs typeface="Times New Roman" panose="02020603050405020304" pitchFamily="18" charset="0"/>
              </a:rPr>
              <a:t>Irrigation Analysis</a:t>
            </a:r>
            <a:endParaRPr lang="en-IN" sz="115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4398D28-431C-7660-F41C-F84BA6497164}"/>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1239477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90"/>
            <a:ext cx="1836333" cy="747010"/>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19995" y="5471681"/>
            <a:ext cx="7653346" cy="1117600"/>
          </a:xfrm>
        </p:spPr>
        <p:txBody>
          <a:bodyPr>
            <a:no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Drip irrigation has the highest average yield (6.58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/ha).</a:t>
            </a:r>
          </a:p>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Rainfed has the lowest (4.60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/ha).</a:t>
            </a:r>
          </a:p>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Drip irrigation appears to be the most effective method for yield.</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B52A4F7-767C-EA36-6EE9-50E230CB3EF8}"/>
              </a:ext>
            </a:extLst>
          </p:cNvPr>
          <p:cNvPicPr>
            <a:picLocks noChangeAspect="1"/>
          </p:cNvPicPr>
          <p:nvPr/>
        </p:nvPicPr>
        <p:blipFill>
          <a:blip r:embed="rId3"/>
          <a:stretch>
            <a:fillRect/>
          </a:stretch>
        </p:blipFill>
        <p:spPr>
          <a:xfrm>
            <a:off x="1675293" y="1091407"/>
            <a:ext cx="5942750" cy="4108134"/>
          </a:xfrm>
          <a:prstGeom prst="rect">
            <a:avLst/>
          </a:prstGeom>
        </p:spPr>
      </p:pic>
    </p:spTree>
    <p:extLst>
      <p:ext uri="{BB962C8B-B14F-4D97-AF65-F5344CB8AC3E}">
        <p14:creationId xmlns:p14="http://schemas.microsoft.com/office/powerpoint/2010/main" val="1818826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20982" y="416948"/>
            <a:ext cx="2034291" cy="66607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34110" y="5539017"/>
            <a:ext cx="8386618" cy="932903"/>
          </a:xfrm>
        </p:spPr>
        <p:txBody>
          <a:bodyPr>
            <a:no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Drip irrigation recorded the highest average profit in Kharif and Rabi, while Sprinkler recorded the highest average profit in Zaid. Profitability generally decreased from Kharif to Zaid, with Flood and Rainfed showing losses during Zaid.</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04944AB-DB05-6C41-CE28-1619F032C348}"/>
              </a:ext>
            </a:extLst>
          </p:cNvPr>
          <p:cNvPicPr>
            <a:picLocks noChangeAspect="1"/>
          </p:cNvPicPr>
          <p:nvPr/>
        </p:nvPicPr>
        <p:blipFill>
          <a:blip r:embed="rId3"/>
          <a:stretch>
            <a:fillRect/>
          </a:stretch>
        </p:blipFill>
        <p:spPr>
          <a:xfrm>
            <a:off x="1906198" y="1087806"/>
            <a:ext cx="5783057" cy="4258171"/>
          </a:xfrm>
          <a:prstGeom prst="rect">
            <a:avLst/>
          </a:prstGeom>
        </p:spPr>
      </p:pic>
    </p:spTree>
    <p:extLst>
      <p:ext uri="{BB962C8B-B14F-4D97-AF65-F5344CB8AC3E}">
        <p14:creationId xmlns:p14="http://schemas.microsoft.com/office/powerpoint/2010/main" val="412674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195-0892-7701-4D84-8D6CDCFE15E0}"/>
              </a:ext>
            </a:extLst>
          </p:cNvPr>
          <p:cNvSpPr>
            <a:spLocks noGrp="1"/>
          </p:cNvSpPr>
          <p:nvPr>
            <p:ph type="title"/>
          </p:nvPr>
        </p:nvSpPr>
        <p:spPr>
          <a:xfrm>
            <a:off x="1046788" y="2586182"/>
            <a:ext cx="8596668" cy="1320800"/>
          </a:xfrm>
        </p:spPr>
        <p:txBody>
          <a:bodyPr>
            <a:noAutofit/>
          </a:bodyPr>
          <a:lstStyle/>
          <a:p>
            <a:r>
              <a:rPr lang="en-IN" sz="6600" dirty="0">
                <a:latin typeface="Times New Roman" panose="02020603050405020304" pitchFamily="18" charset="0"/>
                <a:cs typeface="Times New Roman" panose="02020603050405020304" pitchFamily="18" charset="0"/>
              </a:rPr>
              <a:t>State &amp; District Analysis</a:t>
            </a:r>
          </a:p>
        </p:txBody>
      </p:sp>
      <p:sp>
        <p:nvSpPr>
          <p:cNvPr id="3" name="Slide Number Placeholder 2">
            <a:extLst>
              <a:ext uri="{FF2B5EF4-FFF2-40B4-BE49-F238E27FC236}">
                <a16:creationId xmlns:a16="http://schemas.microsoft.com/office/drawing/2014/main" id="{B4398D28-431C-7660-F41C-F84BA6497164}"/>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764319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426576" y="464812"/>
            <a:ext cx="2233497" cy="66607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5240882"/>
            <a:ext cx="8466145" cy="889291"/>
          </a:xfrm>
        </p:spPr>
        <p:txBody>
          <a:bodyPr>
            <a:no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Punjab recorded the highest average yield at 6.12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hectare, while Andhra Pradesh recorded the lowest at 4.63 </a:t>
            </a:r>
            <a:r>
              <a:rPr lang="en-US" sz="1800" dirty="0" err="1">
                <a:solidFill>
                  <a:schemeClr val="tx1">
                    <a:lumMod val="95000"/>
                    <a:lumOff val="5000"/>
                  </a:schemeClr>
                </a:solidFill>
                <a:latin typeface="Times New Roman" panose="02020603050405020304" pitchFamily="18" charset="0"/>
                <a:cs typeface="Times New Roman" panose="02020603050405020304" pitchFamily="18" charset="0"/>
              </a:rPr>
              <a:t>tonnes</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per hectare. Karnataka and Gujarat also showed relatively high average yields.</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E7B9200-6DE6-2D32-F4C8-16FB4ECBD5F5}"/>
              </a:ext>
            </a:extLst>
          </p:cNvPr>
          <p:cNvPicPr>
            <a:picLocks noChangeAspect="1"/>
          </p:cNvPicPr>
          <p:nvPr/>
        </p:nvPicPr>
        <p:blipFill>
          <a:blip r:embed="rId3"/>
          <a:stretch>
            <a:fillRect/>
          </a:stretch>
        </p:blipFill>
        <p:spPr>
          <a:xfrm>
            <a:off x="776607" y="1275371"/>
            <a:ext cx="8692498" cy="3459583"/>
          </a:xfrm>
          <a:prstGeom prst="rect">
            <a:avLst/>
          </a:prstGeom>
        </p:spPr>
      </p:pic>
    </p:spTree>
    <p:extLst>
      <p:ext uri="{BB962C8B-B14F-4D97-AF65-F5344CB8AC3E}">
        <p14:creationId xmlns:p14="http://schemas.microsoft.com/office/powerpoint/2010/main" val="266846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0467" y="304433"/>
            <a:ext cx="1845570" cy="582750"/>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1060697" y="5098733"/>
            <a:ext cx="7939672" cy="833612"/>
          </a:xfrm>
        </p:spPr>
        <p:txBody>
          <a:bodyPr>
            <a:no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Punjab recorded the highest average profit of approximately ₹1.36 lakh, while Andhra Pradesh recorded the lowest at approximately ₹73,454. Maharashtra also showed a high average profit, closely following Punjab.</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5B5F483-B782-891A-2EC4-421C24A180F9}"/>
              </a:ext>
            </a:extLst>
          </p:cNvPr>
          <p:cNvPicPr>
            <a:picLocks noChangeAspect="1"/>
          </p:cNvPicPr>
          <p:nvPr/>
        </p:nvPicPr>
        <p:blipFill>
          <a:blip r:embed="rId3"/>
          <a:stretch>
            <a:fillRect/>
          </a:stretch>
        </p:blipFill>
        <p:spPr>
          <a:xfrm>
            <a:off x="431599" y="1275371"/>
            <a:ext cx="9197868" cy="3630517"/>
          </a:xfrm>
          <a:prstGeom prst="rect">
            <a:avLst/>
          </a:prstGeom>
        </p:spPr>
      </p:pic>
    </p:spTree>
    <p:extLst>
      <p:ext uri="{BB962C8B-B14F-4D97-AF65-F5344CB8AC3E}">
        <p14:creationId xmlns:p14="http://schemas.microsoft.com/office/powerpoint/2010/main" val="199594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20982" y="228676"/>
            <a:ext cx="2065541" cy="597904"/>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908763" y="5582628"/>
            <a:ext cx="7662581" cy="808935"/>
          </a:xfrm>
        </p:spPr>
        <p:txBody>
          <a:bodyPr>
            <a:noAutofit/>
          </a:bodyPr>
          <a:lstStyle/>
          <a:p>
            <a:pPr marL="0" indent="0">
              <a:buNone/>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Warangal recorded the highest average profit at approximately ₹1.66 lakh, while Krishna recorded the lowest at approximately ₹78,241. Nalgonda and Raichur also showed relatively high average profitability.</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323D099-8C1E-CAA0-2C52-34DB15E29EB5}"/>
              </a:ext>
            </a:extLst>
          </p:cNvPr>
          <p:cNvPicPr>
            <a:picLocks noChangeAspect="1"/>
          </p:cNvPicPr>
          <p:nvPr/>
        </p:nvPicPr>
        <p:blipFill>
          <a:blip r:embed="rId3"/>
          <a:stretch>
            <a:fillRect/>
          </a:stretch>
        </p:blipFill>
        <p:spPr>
          <a:xfrm>
            <a:off x="1198193" y="906937"/>
            <a:ext cx="6939043" cy="4392197"/>
          </a:xfrm>
          <a:prstGeom prst="rect">
            <a:avLst/>
          </a:prstGeom>
        </p:spPr>
      </p:pic>
    </p:spTree>
    <p:extLst>
      <p:ext uri="{BB962C8B-B14F-4D97-AF65-F5344CB8AC3E}">
        <p14:creationId xmlns:p14="http://schemas.microsoft.com/office/powerpoint/2010/main" val="214194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195-0892-7701-4D84-8D6CDCFE15E0}"/>
              </a:ext>
            </a:extLst>
          </p:cNvPr>
          <p:cNvSpPr>
            <a:spLocks noGrp="1"/>
          </p:cNvSpPr>
          <p:nvPr>
            <p:ph type="title"/>
          </p:nvPr>
        </p:nvSpPr>
        <p:spPr>
          <a:xfrm>
            <a:off x="1046788" y="2586182"/>
            <a:ext cx="8596668" cy="1320800"/>
          </a:xfrm>
        </p:spPr>
        <p:txBody>
          <a:bodyPr>
            <a:noAutofit/>
          </a:bodyPr>
          <a:lstStyle/>
          <a:p>
            <a:r>
              <a:rPr lang="en-IN" sz="6600" dirty="0">
                <a:latin typeface="Times New Roman" panose="02020603050405020304" pitchFamily="18" charset="0"/>
                <a:cs typeface="Times New Roman" panose="02020603050405020304" pitchFamily="18" charset="0"/>
              </a:rPr>
              <a:t>Relationship Analysis</a:t>
            </a:r>
            <a:endParaRPr lang="en-IN" sz="115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4398D28-431C-7660-F41C-F84BA6497164}"/>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3325076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65122" y="459865"/>
            <a:ext cx="1841624" cy="649308"/>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2406746" y="3223126"/>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16E2000-7ECB-A6A9-1CB3-7CF257AB7471}"/>
              </a:ext>
            </a:extLst>
          </p:cNvPr>
          <p:cNvPicPr>
            <a:picLocks noChangeAspect="1"/>
          </p:cNvPicPr>
          <p:nvPr/>
        </p:nvPicPr>
        <p:blipFill>
          <a:blip r:embed="rId3"/>
          <a:stretch>
            <a:fillRect/>
          </a:stretch>
        </p:blipFill>
        <p:spPr>
          <a:xfrm>
            <a:off x="675956" y="1257651"/>
            <a:ext cx="7340585" cy="4838349"/>
          </a:xfrm>
          <a:prstGeom prst="rect">
            <a:avLst/>
          </a:prstGeom>
        </p:spPr>
      </p:pic>
    </p:spTree>
    <p:extLst>
      <p:ext uri="{BB962C8B-B14F-4D97-AF65-F5344CB8AC3E}">
        <p14:creationId xmlns:p14="http://schemas.microsoft.com/office/powerpoint/2010/main" val="160139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8" y="370589"/>
            <a:ext cx="2011824" cy="830997"/>
          </a:xfrm>
        </p:spPr>
        <p:txBody>
          <a:bodyPr>
            <a:normAutofit/>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2"/>
            <a:ext cx="6055455" cy="4300365"/>
          </a:xfrm>
        </p:spPr>
        <p:txBody>
          <a:bodyPr/>
          <a:lstStyle/>
          <a:p>
            <a:pPr marL="0" indent="0">
              <a:buNone/>
            </a:pPr>
            <a:endParaRPr lang="en-IN" dirty="0"/>
          </a:p>
        </p:txBody>
      </p:sp>
      <p:pic>
        <p:nvPicPr>
          <p:cNvPr id="3" name="Picture 2">
            <a:extLst>
              <a:ext uri="{FF2B5EF4-FFF2-40B4-BE49-F238E27FC236}">
                <a16:creationId xmlns:a16="http://schemas.microsoft.com/office/drawing/2014/main" id="{9950F1EA-F83D-CB6C-CCFE-6C47935807E3}"/>
              </a:ext>
            </a:extLst>
          </p:cNvPr>
          <p:cNvPicPr>
            <a:picLocks noChangeAspect="1"/>
          </p:cNvPicPr>
          <p:nvPr/>
        </p:nvPicPr>
        <p:blipFill>
          <a:blip r:embed="rId3"/>
          <a:stretch>
            <a:fillRect/>
          </a:stretch>
        </p:blipFill>
        <p:spPr>
          <a:xfrm>
            <a:off x="840324" y="1431690"/>
            <a:ext cx="7306149" cy="4825211"/>
          </a:xfrm>
          <a:prstGeom prst="rect">
            <a:avLst/>
          </a:prstGeom>
        </p:spPr>
      </p:pic>
    </p:spTree>
    <p:extLst>
      <p:ext uri="{BB962C8B-B14F-4D97-AF65-F5344CB8AC3E}">
        <p14:creationId xmlns:p14="http://schemas.microsoft.com/office/powerpoint/2010/main" val="1878745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8" y="370590"/>
            <a:ext cx="2002588" cy="451601"/>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sz="3200" dirty="0"/>
              <a:t> </a:t>
            </a:r>
            <a:endParaRPr lang="en-IN" sz="32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7967382" cy="4692016"/>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CAC79B9-C78B-FEF3-435A-698C2D99BACD}"/>
              </a:ext>
            </a:extLst>
          </p:cNvPr>
          <p:cNvPicPr>
            <a:picLocks noChangeAspect="1"/>
          </p:cNvPicPr>
          <p:nvPr/>
        </p:nvPicPr>
        <p:blipFill>
          <a:blip r:embed="rId3"/>
          <a:srcRect t="5528"/>
          <a:stretch/>
        </p:blipFill>
        <p:spPr>
          <a:xfrm>
            <a:off x="675957" y="1431693"/>
            <a:ext cx="7387388" cy="5145196"/>
          </a:xfrm>
          <a:prstGeom prst="rect">
            <a:avLst/>
          </a:prstGeom>
        </p:spPr>
      </p:pic>
    </p:spTree>
    <p:extLst>
      <p:ext uri="{BB962C8B-B14F-4D97-AF65-F5344CB8AC3E}">
        <p14:creationId xmlns:p14="http://schemas.microsoft.com/office/powerpoint/2010/main" val="387568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50394" y="410394"/>
            <a:ext cx="2011824" cy="639267"/>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2"/>
            <a:ext cx="6055455" cy="4300365"/>
          </a:xfrm>
        </p:spPr>
        <p:txBody>
          <a:bodyPr/>
          <a:lstStyle/>
          <a:p>
            <a:pPr marL="0" indent="0">
              <a:buNone/>
            </a:pPr>
            <a:endParaRPr lang="en-IN" dirty="0"/>
          </a:p>
        </p:txBody>
      </p:sp>
      <p:pic>
        <p:nvPicPr>
          <p:cNvPr id="6" name="Picture 5">
            <a:extLst>
              <a:ext uri="{FF2B5EF4-FFF2-40B4-BE49-F238E27FC236}">
                <a16:creationId xmlns:a16="http://schemas.microsoft.com/office/drawing/2014/main" id="{E94D3CED-0F34-9722-1094-E295C755483F}"/>
              </a:ext>
            </a:extLst>
          </p:cNvPr>
          <p:cNvPicPr>
            <a:picLocks noChangeAspect="1"/>
          </p:cNvPicPr>
          <p:nvPr/>
        </p:nvPicPr>
        <p:blipFill>
          <a:blip r:embed="rId3"/>
          <a:stretch>
            <a:fillRect/>
          </a:stretch>
        </p:blipFill>
        <p:spPr>
          <a:xfrm>
            <a:off x="807163" y="1125943"/>
            <a:ext cx="6514248" cy="5215728"/>
          </a:xfrm>
          <a:prstGeom prst="rect">
            <a:avLst/>
          </a:prstGeom>
        </p:spPr>
      </p:pic>
    </p:spTree>
    <p:extLst>
      <p:ext uri="{BB962C8B-B14F-4D97-AF65-F5344CB8AC3E}">
        <p14:creationId xmlns:p14="http://schemas.microsoft.com/office/powerpoint/2010/main" val="2825690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9081636" cy="4709793"/>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E19F1294-9464-4A69-6C5B-209C7864AE45}"/>
              </a:ext>
            </a:extLst>
          </p:cNvPr>
          <p:cNvSpPr txBox="1"/>
          <p:nvPr/>
        </p:nvSpPr>
        <p:spPr>
          <a:xfrm>
            <a:off x="452583" y="1201586"/>
            <a:ext cx="8721748" cy="4801314"/>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This project can be extended in the future by using more detailed and real-time agricultural data. Weather forecasts, soil conditions, market prices and crop-related information can be included to improve the analysis.</a:t>
            </a:r>
          </a:p>
          <a:p>
            <a:pPr>
              <a:lnSpc>
                <a:spcPct val="150000"/>
              </a:lnSpc>
            </a:pPr>
            <a:r>
              <a:rPr lang="en-US" dirty="0">
                <a:latin typeface="Times New Roman" panose="02020603050405020304" pitchFamily="18" charset="0"/>
                <a:cs typeface="Times New Roman" panose="02020603050405020304" pitchFamily="18" charset="0"/>
              </a:rPr>
              <a:t>The future scope of this project includes: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Using real-time weather and rainfall data for better seasonal analysis.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Adding more years of agricultural data to identify long-term trends.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Including real-time crop market prices to improve profit analysis.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Using machine learning to predict crop yield and profitability.</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Developing an interactive dashboard for farmers and agricultural decision-makers.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Analyzing future water requirements and improving irrigation planning.</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Adding more districts and crops for a broader analysis.</a:t>
            </a:r>
          </a:p>
          <a:p>
            <a:r>
              <a:rPr lang="en-US" dirty="0">
                <a:latin typeface="Times New Roman" panose="02020603050405020304" pitchFamily="18" charset="0"/>
                <a:cs typeface="Times New Roman" panose="02020603050405020304" pitchFamily="18" charset="0"/>
              </a:rPr>
              <a:t>These improvements can help make the analysis more useful for </a:t>
            </a:r>
            <a:r>
              <a:rPr lang="en-US" b="1" dirty="0">
                <a:latin typeface="Times New Roman" panose="02020603050405020304" pitchFamily="18" charset="0"/>
                <a:cs typeface="Times New Roman" panose="02020603050405020304" pitchFamily="18" charset="0"/>
              </a:rPr>
              <a:t>crop planning, resource management and agricultural decision-making</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8C72AD0-9CE0-2AA3-DCEE-B24BF2660EE4}"/>
              </a:ext>
            </a:extLst>
          </p:cNvPr>
          <p:cNvSpPr txBox="1"/>
          <p:nvPr/>
        </p:nvSpPr>
        <p:spPr>
          <a:xfrm>
            <a:off x="2283690" y="3145965"/>
            <a:ext cx="6100618" cy="646331"/>
          </a:xfrm>
          <a:prstGeom prst="rect">
            <a:avLst/>
          </a:prstGeom>
          <a:noFill/>
        </p:spPr>
        <p:txBody>
          <a:bodyPr wrap="square">
            <a:spAutoFit/>
          </a:bodyPr>
          <a:lstStyle/>
          <a:p>
            <a:r>
              <a:rPr lang="en-IN" dirty="0"/>
              <a:t>https://github.com/AkulaRamyaKrishna/Seasonal-Agriculture-Performance-Analysis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3B69B93-24B4-A17B-21C4-4A37EA708926}"/>
              </a:ext>
            </a:extLst>
          </p:cNvPr>
          <p:cNvPicPr>
            <a:picLocks noChangeAspect="1"/>
          </p:cNvPicPr>
          <p:nvPr/>
        </p:nvPicPr>
        <p:blipFill>
          <a:blip r:embed="rId3"/>
          <a:stretch>
            <a:fillRect/>
          </a:stretch>
        </p:blipFill>
        <p:spPr>
          <a:xfrm>
            <a:off x="1484120" y="1539893"/>
            <a:ext cx="6944043" cy="491586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460942" y="2827921"/>
            <a:ext cx="7435273" cy="2163891"/>
          </a:xfrm>
        </p:spPr>
        <p:txBody>
          <a:bodyPr>
            <a:normAutofit/>
          </a:bodyPr>
          <a:lstStyle/>
          <a:p>
            <a:r>
              <a:rPr lang="en-US" b="1" dirty="0">
                <a:latin typeface="Times New Roman" panose="02020603050405020304" pitchFamily="18" charset="0"/>
                <a:cs typeface="Times New Roman" panose="02020603050405020304" pitchFamily="18" charset="0"/>
              </a:rPr>
              <a:t>Seasonal Agriculture Performance Analysis</a:t>
            </a:r>
            <a:endParaRPr lang="en-US" dirty="0">
              <a:latin typeface="Times New Roman" panose="02020603050405020304" pitchFamily="18" charset="0"/>
              <a:cs typeface="Times New Roman" panose="02020603050405020304" pitchFamily="18" charset="0"/>
            </a:endParaRPr>
          </a:p>
          <a:p>
            <a:r>
              <a:rPr lang="en-US" i="1" dirty="0">
                <a:latin typeface="Times New Roman" panose="02020603050405020304" pitchFamily="18" charset="0"/>
                <a:cs typeface="Times New Roman" panose="02020603050405020304" pitchFamily="18" charset="0"/>
              </a:rPr>
              <a:t>Data-driven insights for better agricultural decision-making</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Name: Ramya Krishna Akula</a:t>
            </a:r>
          </a:p>
          <a:p>
            <a:r>
              <a:rPr lang="en-US" b="1" dirty="0">
                <a:latin typeface="Times New Roman" panose="02020603050405020304" pitchFamily="18" charset="0"/>
                <a:cs typeface="Times New Roman" panose="02020603050405020304" pitchFamily="18" charset="0"/>
              </a:rPr>
              <a:t>STU ID : STU625ba2aa3a4d71650172586</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675</TotalTime>
  <Words>843</Words>
  <Application>Microsoft Office PowerPoint</Application>
  <PresentationFormat>Widescreen</PresentationFormat>
  <Paragraphs>92</Paragraphs>
  <Slides>30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Seasonal Analysis</vt:lpstr>
      <vt:lpstr>RESULTS </vt:lpstr>
      <vt:lpstr>RESULTS </vt:lpstr>
      <vt:lpstr>RESULTS </vt:lpstr>
      <vt:lpstr>RESULTS </vt:lpstr>
      <vt:lpstr>Crop Analysis</vt:lpstr>
      <vt:lpstr>RESULTS </vt:lpstr>
      <vt:lpstr>RESULTS </vt:lpstr>
      <vt:lpstr>RESULTS </vt:lpstr>
      <vt:lpstr>Irrigation Analysis</vt:lpstr>
      <vt:lpstr>RESULTS </vt:lpstr>
      <vt:lpstr>RESULTS </vt:lpstr>
      <vt:lpstr>State &amp; District Analysis</vt:lpstr>
      <vt:lpstr>RESULTS </vt:lpstr>
      <vt:lpstr>RESULTS </vt:lpstr>
      <vt:lpstr>RESULTS </vt:lpstr>
      <vt:lpstr>Relationship Analysis</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AKULA RAMYAKRISHNA AKULA</cp:lastModifiedBy>
  <cp:revision>166</cp:revision>
  <dcterms:created xsi:type="dcterms:W3CDTF">2021-07-11T13:13:15Z</dcterms:created>
  <dcterms:modified xsi:type="dcterms:W3CDTF">2026-09-13T10:08:03Z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